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-856" y="-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83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Topic: sinh unit test tự động bằng LLMs. GAP: chưa có systematic comparison free models. Mục tiêu: biết model nào tốt nhất khi không có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Phản chứng: Multi-LLM Chaining dùng chaining pipeline không phải independent comparison. Cabral chỉ 2 models. Konstantinou không công bố tên models. → GAP-T XÁC NHẬN.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type: Comparative (RQ1-3 independent groups), Paired comparative (RQ4). Chốt sau GV duyệt — không thay đổi RQ, metric,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GV thường hỏi: Threshold lấy từ đâu? → Case 2 từ TABLE IV (benchmark paper). Không tự đặt. Floor LLM = kết quả thấp nhất thực tế trong experiment tương tự.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RQ3: tsDetect static analysis — chạy trên ALL generated tests kể cả không compile. RQ4: paired vì cùng 30 focal methods, 2 conditions. Bonferroni α/4 = 0.0125.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Bước 4 là gate quan trọng. 34% threshold từ ChatTester'24 (FSE) — Case 2 floor. PIT mutation chỉ chạy nếu kịp sau ngày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GAP-S justification: 30/54 papers nêu limited benchmark là limitation → downscope có precedent. n=30 per group: power ≈ 0.82 theo G*Power (Kruskal-Wallis, effect medium).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Complexity: 13/25 (TRUNG BÌNH). 0 blockers, 1 warning (thời gian). Nếu pipeline ổn ngày 3 → mở rộng 30→60 methods cho stronger statistical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 of Free LLMs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Unit Test Case Generation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Java Benchmarks — Defects4J v2.0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035808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308152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v2.0  ·  30 focal methods (Lang×10, Math×10, Chart×10)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529584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57530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LLMs: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 ·  Gemini-1.5-Flash  ·  DeepSeek-V2-Chat  ·  Llama-3.1-8B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8046720" cy="402336"/>
          </a:xfrm>
          <a:prstGeom prst="roundRect">
            <a:avLst>
              <a:gd name="adj" fmla="val 1136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4069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all free tier / open-source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2803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</a:t>
            </a:r>
            <a:r>
              <a:rPr lang="vi-VN" sz="1000" dirty="0" err="1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r>
              <a:rPr lang="vi-VN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7_SE1944</a:t>
            </a:r>
            <a:r>
              <a:rPr lang="en-US" sz="1000" dirty="0">
                <a:solidFill>
                  <a:srgbClr val="7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2026-06-16  ·  Version 1.0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3977640" cy="1810512"/>
          </a:xfrm>
          <a:prstGeom prst="roundRect">
            <a:avLst>
              <a:gd name="adj" fmla="val 5882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804672"/>
            <a:ext cx="3703320" cy="3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3749040" cy="127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papers nghiên cứu LLM unit test generation — phần lớn dùng GPT-4 thương mại (≥$0.01/call). Không có systematic comparison các free models trên cùng benchmark chuẩn.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749808"/>
            <a:ext cx="3977640" cy="1810512"/>
          </a:xfrm>
          <a:prstGeom prst="roundRect">
            <a:avLst>
              <a:gd name="adj" fmla="val 5882"/>
            </a:avLst>
          </a:prstGeom>
          <a:solidFill>
            <a:srgbClr val="FFF3E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0" y="804672"/>
            <a:ext cx="3703320" cy="340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GAP-T — Primary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278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nghiên cứu nào so sánh độc lập GPT-4o-mini, Gemini-1.5-Flash, DeepSeek-V2-Chat và Llama-3.1-8B trên Defects4J với cùng prompt template + cùng metric.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1940" y="2583180"/>
            <a:ext cx="8229600" cy="4134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 từ evidence table (54 papers):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1940" y="2903220"/>
            <a:ext cx="2788920" cy="1993392"/>
          </a:xfrm>
          <a:prstGeom prst="roundRect">
            <a:avLst>
              <a:gd name="adj" fmla="val 5926"/>
            </a:avLst>
          </a:prstGeom>
          <a:solidFill>
            <a:srgbClr val="F0F7FF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380" y="2958084"/>
            <a:ext cx="260604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2024, TSE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3380" y="3268980"/>
            <a:ext cx="2606040" cy="129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"LLMs rarely evaluated comparatively across models"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8020" y="2903220"/>
            <a:ext cx="2788920" cy="1993392"/>
          </a:xfrm>
          <a:prstGeom prst="roundRect">
            <a:avLst>
              <a:gd name="adj" fmla="val 5926"/>
            </a:avLst>
          </a:prstGeom>
          <a:solidFill>
            <a:srgbClr val="F0F7FF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9460" y="2958084"/>
            <a:ext cx="260604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Cabral et al. 2025, SBQS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9460" y="3268980"/>
            <a:ext cx="2606040" cy="129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≠ ChatGPT in mutation score — nhưng chỉ 2 models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34100" y="2903220"/>
            <a:ext cx="2788920" cy="1993392"/>
          </a:xfrm>
          <a:prstGeom prst="roundRect">
            <a:avLst>
              <a:gd name="adj" fmla="val 5926"/>
            </a:avLst>
          </a:prstGeom>
          <a:solidFill>
            <a:srgbClr val="F0F7FF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25540" y="2958084"/>
            <a:ext cx="2606040" cy="442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 et al. 2025, IEEE Access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25540" y="3268980"/>
            <a:ext cx="2606040" cy="1299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Chaining — nhưng là pipeline, không independent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66928" y="841248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61872" y="841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22529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free LLMs có khác biệt có ý nghĩa thống kê về Line Coverage trên 30 Defects4J focal methods không?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176272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203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≥ 60%   </a:t>
            </a: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Test: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749808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56048" y="841248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84124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50992" y="8412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122529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free LLMs có khác biệt có ý nghĩa thống kê về Branch Coverage không?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6048" y="2176272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2203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Coverage ≥ 45%   </a:t>
            </a: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Test: </a:t>
            </a: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" y="2944368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61872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Smell Density</a:t>
            </a:r>
            <a:r>
              <a:rPr lang="vi-VN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vi-VN" sz="1300" b="1" dirty="0" err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r>
              <a:rPr lang="vi-VN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332841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free LLMs có khác biệt về Test Smell Density không? (AR, ET, EaT, MNT, RA — tsDetect v1.0)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79392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" y="4306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~34% (Ouedraogo)   </a:t>
            </a: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Test: </a:t>
            </a: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852928"/>
            <a:ext cx="4206240" cy="1993392"/>
          </a:xfrm>
          <a:prstGeom prst="roundRect">
            <a:avLst>
              <a:gd name="adj" fmla="val 458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956048" y="2944368"/>
            <a:ext cx="621792" cy="310896"/>
          </a:xfrm>
          <a:prstGeom prst="roundRect">
            <a:avLst>
              <a:gd name="adj" fmla="val 14706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56048" y="2944368"/>
            <a:ext cx="621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50992" y="2944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vs Zero-shot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332841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(Lang-1 + Time-24) có cải thiện Line Coverage so với zero-shot cho từng LLM không?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56048" y="4279392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10912" y="43068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</a:t>
            </a: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≥ 60%   </a:t>
            </a:r>
            <a:r>
              <a:rPr lang="en-US" sz="10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Test: </a:t>
            </a: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&amp; RQ2 — H0 / H1 / Threshold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v2.0 · 30 focal methods (Lang×10, Math×10, Chart×10)     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Gemini-1.5-Flash · DeepSeek-V2-Chat · Llama-3.1-8B · Zero-shot · T=</a:t>
            </a:r>
            <a:r>
              <a:rPr lang="vi-VN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—  Line Coverage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225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≥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floor LLM = 55.4% (Gemini zero-shot, TABLE IV benchmark </a:t>
            </a:r>
            <a:r>
              <a:rPr lang="vi-VN" sz="950" i="1" dirty="0" err="1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r>
              <a:rPr lang="vi-VN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(Lops_2025_AgoneTest)</a:t>
            </a: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2834640" cy="1042416"/>
          </a:xfrm>
          <a:prstGeom prst="roundRect">
            <a:avLst>
              <a:gd name="adj" fmla="val 6140"/>
            </a:avLst>
          </a:prstGeom>
          <a:solidFill>
            <a:srgbClr val="FEF0F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LLMs KHÔNG có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về Line Coverage (Kruskal-Wallis, α=0.05)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865376"/>
            <a:ext cx="3474720" cy="1042416"/>
          </a:xfrm>
          <a:prstGeom prst="roundRect">
            <a:avLst>
              <a:gd name="adj" fmla="val 6140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nhất 1 LLM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với ít nhất 1 LLM khác (post-hoc Dunn/Bonferroni, α=0.0083/pair)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865376"/>
            <a:ext cx="1828800" cy="1042416"/>
          </a:xfrm>
          <a:prstGeom prst="roundRect">
            <a:avLst>
              <a:gd name="adj" fmla="val 6140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Dunn/Bonferroni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Cliff's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35808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—  Branch Coverage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072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≥ 45%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43814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floor human = 48.7% (human-written tests, TABLE IV benchmark paper</a:t>
            </a:r>
            <a:r>
              <a:rPr lang="vi-VN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(Lops_2025_AgoneTest)</a:t>
            </a: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2834640" cy="1042416"/>
          </a:xfrm>
          <a:prstGeom prst="roundRect">
            <a:avLst>
              <a:gd name="adj" fmla="val 6140"/>
            </a:avLst>
          </a:prstGeom>
          <a:solidFill>
            <a:srgbClr val="FEF0F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LLMs KHÔNG có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về Branch Coverage (Kruskal-Wallis, α=0.05)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712464"/>
            <a:ext cx="3474720" cy="1042416"/>
          </a:xfrm>
          <a:prstGeom prst="roundRect">
            <a:avLst>
              <a:gd name="adj" fmla="val 6140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041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nhất 1 LLM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với ít nhất 1 LLM khác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3712464"/>
            <a:ext cx="1828800" cy="1042416"/>
          </a:xfrm>
          <a:prstGeom prst="roundRect">
            <a:avLst>
              <a:gd name="adj" fmla="val 6140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Dunn/Bonferroni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Cliff's δ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&amp; RQ4 — H0 / H1 / Threshold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v2.0 · 30 focal methods (Lang×10, Math×10, Chart×10)     </a:t>
            </a: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· Gemini-1.5-Flash · DeepSeek-V2-Chat · Llama-3.1-8B · Zero-shot · T=0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—  Test Smell Density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225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so sánh vs baseline ~34%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baseline GPT-3.5/GPT-4 = ~34% smell density (Ouedraogo et al. 2024, SPLC)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65376"/>
            <a:ext cx="2834640" cy="1042416"/>
          </a:xfrm>
          <a:prstGeom prst="roundRect">
            <a:avLst>
              <a:gd name="adj" fmla="val 6140"/>
            </a:avLst>
          </a:prstGeom>
          <a:solidFill>
            <a:srgbClr val="FEF0F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LLMs KHÔNG có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về Test Smell Density — tsDetect v1.0 (Kruskal-Wallis, α=0.05)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865376"/>
            <a:ext cx="3474720" cy="1042416"/>
          </a:xfrm>
          <a:prstGeom prst="roundRect">
            <a:avLst>
              <a:gd name="adj" fmla="val 6140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29000" y="1901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Ít nhất 1 LLM tạo Test Smell Density khác biệt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1865376"/>
            <a:ext cx="1828800" cy="1042416"/>
          </a:xfrm>
          <a:prstGeom prst="roundRect">
            <a:avLst>
              <a:gd name="adj" fmla="val 6140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40880" y="19019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Dunn/Bonferroni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Cliff's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35808"/>
            <a:ext cx="8412480" cy="365760"/>
          </a:xfrm>
          <a:prstGeom prst="roundRect">
            <a:avLst>
              <a:gd name="adj" fmla="val 175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072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 —  Line Coverage (paired)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77840" y="30723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O: ≥ 60%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43814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same as RQ1 · few-shot: Lang-1 + Time-24 cross-project (Kang et al. ICSE 2023)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12464"/>
            <a:ext cx="2834640" cy="1042416"/>
          </a:xfrm>
          <a:prstGeom prst="roundRect">
            <a:avLst>
              <a:gd name="adj" fmla="val 6140"/>
            </a:avLst>
          </a:prstGeom>
          <a:solidFill>
            <a:srgbClr val="FEF0F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4164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KHÔNG cải thiện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Coverage so với zero-shot cho bất kỳ LLM nào (Wilcoxon, α=0.05)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712464"/>
            <a:ext cx="3474720" cy="1042416"/>
          </a:xfrm>
          <a:prstGeom prst="roundRect">
            <a:avLst>
              <a:gd name="adj" fmla="val 6140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29000" y="37490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29000" y="4041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cải thiện </a:t>
            </a:r>
            <a:r>
              <a:rPr lang="en-US" sz="950" dirty="0" err="1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vi-VN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thống kê</a:t>
            </a: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Coverage cho ít nhất 1 LLM (p &lt; 0.0125 per LLM sau Bonferroni)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3712464"/>
            <a:ext cx="1828800" cy="1042416"/>
          </a:xfrm>
          <a:prstGeom prst="roundRect">
            <a:avLst>
              <a:gd name="adj" fmla="val 6140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40880" y="40416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signed-rank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(paired)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Cliff's δ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Protocol —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47472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065A82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84048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focal methods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v2.0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26464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75816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1C7293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86712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86712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12392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12392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(C1)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k=2 (C2)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54808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04160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028090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115056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115056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40736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LLMs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40736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API calls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total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83152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032504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1A5276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43400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43400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69080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69080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21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Compilability 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11496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260848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21618C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571744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571744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97424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297424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JaCoCo 0.8.11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+ Branch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39840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489192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6D2E46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800088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800088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25768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25768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tsDetect v1.0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smell types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568184" y="1051560"/>
            <a:ext cx="14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717536" y="713232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B7500A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028432" y="76809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028432" y="768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754112" y="12984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754112" y="16184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4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Wilcoxon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47472" y="2267712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75488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" y="2606040"/>
            <a:ext cx="3877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v2.0  ·  Lang-1→10, Math-1→10, Chart-1→10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github.com/rjust/defects4j  ·  dùng trong HITS'24, MocklessTester'26, LIBRO'23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81728" y="2267712"/>
            <a:ext cx="4114800" cy="1115568"/>
          </a:xfrm>
          <a:prstGeom prst="roundRect">
            <a:avLst>
              <a:gd name="adj" fmla="val 6557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09744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Config — exact versions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09744" y="2606040"/>
            <a:ext cx="38770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GPT-4o-mini   → gpt-4o-mini-2024-07-18    (free)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Gemini-Flash  → gemini-1.5-flash-002        (1500/day)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DeepSeek      → deepseek-chat               (free)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Llama-3.1-8B  → llama3.1:8b Ollama          ($0 local)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47472" y="3493008"/>
            <a:ext cx="8449056" cy="475488"/>
          </a:xfrm>
          <a:prstGeom prst="roundRect">
            <a:avLst>
              <a:gd name="adj" fmla="val 13462"/>
            </a:avLst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" y="35295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(anchor)  +  EvoSuite 1.2.0 (lower bound — HITS'24: 68% statement coverage on Defects4J)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47472" y="4059936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  ·  max_tokens=1024  ·  few-shot C2: Lang-1 + Time-24 cross-project (Kang et al. ICSE 2023)  ·  n=1 per call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7472" y="4407408"/>
            <a:ext cx="84490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gate: LLM &lt; 34% compilability → loại khỏi RQ1/2 (giữ RQ3 — tsDetect static, không cần compile)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Defects4J v2.0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713232"/>
            <a:ext cx="2761488" cy="3200400"/>
          </a:xfrm>
          <a:prstGeom prst="roundRect">
            <a:avLst>
              <a:gd name="adj" fmla="val 3311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713232"/>
            <a:ext cx="2761488" cy="512064"/>
          </a:xfrm>
          <a:prstGeom prst="roundRect">
            <a:avLst>
              <a:gd name="adj" fmla="val 1785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2761488" cy="21945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7498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Commons Lang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Bugs: </a:t>
            </a: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lấy: </a:t>
            </a: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" y="20299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String &amp; utility methods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235915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Focal methods ngắn gọn, dễ understand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" y="2798064"/>
            <a:ext cx="2542032" cy="310896"/>
          </a:xfrm>
          <a:prstGeom prst="roundRect">
            <a:avLst>
              <a:gd name="adj" fmla="val 11765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" y="2816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Lang-1  →  Lang-10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713232"/>
            <a:ext cx="2761488" cy="3200400"/>
          </a:xfrm>
          <a:prstGeom prst="roundRect">
            <a:avLst>
              <a:gd name="adj" fmla="val 3311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64408" y="713232"/>
            <a:ext cx="2761488" cy="512064"/>
          </a:xfrm>
          <a:prstGeom prst="roundRect">
            <a:avLst>
              <a:gd name="adj" fmla="val 17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64408" y="1005840"/>
            <a:ext cx="2761488" cy="21945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0128" y="7498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74136" y="129844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Commons Math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74136" y="16642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Bugs: </a:t>
            </a: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lấy: </a:t>
            </a: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20299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Algorithmic / numerical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74136" y="235915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Test oracle rõ ràng, mutation phong phú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74136" y="2798064"/>
            <a:ext cx="2542032" cy="310896"/>
          </a:xfrm>
          <a:prstGeom prst="roundRect">
            <a:avLst>
              <a:gd name="adj" fmla="val 11765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74136" y="2816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Math-1  →  Math-10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713232"/>
            <a:ext cx="2761488" cy="3200400"/>
          </a:xfrm>
          <a:prstGeom prst="roundRect">
            <a:avLst>
              <a:gd name="adj" fmla="val 3311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44768" y="713232"/>
            <a:ext cx="2761488" cy="512064"/>
          </a:xfrm>
          <a:prstGeom prst="roundRect">
            <a:avLst>
              <a:gd name="adj" fmla="val 1785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44768" y="1005840"/>
            <a:ext cx="2761488" cy="21945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0488" y="7498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54496" y="129844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JFreeChart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54496" y="1664208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Bugs: </a:t>
            </a: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lấy: </a:t>
            </a: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02996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GUI charting logic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235915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do: Phức tạp hơn → diversity cho experiment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2798064"/>
            <a:ext cx="2542032" cy="310896"/>
          </a:xfrm>
          <a:prstGeom prst="roundRect">
            <a:avLst>
              <a:gd name="adj" fmla="val 11765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54496" y="2816352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Chart-1  →  Chart-10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84048" y="4005072"/>
            <a:ext cx="8375904" cy="713232"/>
          </a:xfrm>
          <a:prstGeom prst="roundRect">
            <a:avLst>
              <a:gd name="adj" fmla="val 10256"/>
            </a:avLst>
          </a:prstGeom>
          <a:solidFill>
            <a:srgbClr val="F0FF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4041648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methods  ·  4 LLMs × 30 × 2 conditions = </a:t>
            </a: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API calls</a:t>
            </a: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Gemini free: 1,500 req/day → </a:t>
            </a: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xong &lt; 20 phút
</a:t>
            </a:r>
            <a:r>
              <a:rPr lang="en-US" sz="11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github.com/rjust/defects4j  ·  Dùng trong HITS'24, MocklessTester'26, LIBRO'23, EvoGPT'25  ·  Ground truth có sẵn, không cần annotation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Contribution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Check — 1 tuần / </a:t>
            </a:r>
            <a:r>
              <a:rPr lang="vi-VN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người / $0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38912" y="1078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060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435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public GitHub — không crawl, không annotate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82312" y="1078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1060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Tool/API: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66360" y="12435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1500 req/day free · DeepSeek free · Llama local Ollama · $0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627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18105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laptop đủ — javac + JaCoCo + PIT local, không cần GPU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57276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82312" y="164592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162763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181051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Defects4J có sẵn, không cần human annotation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13969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22128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1945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237744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JaCoCo + API calls — tutorial đầy đủ, học &lt; 1 ngày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213969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82312" y="221284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2157984"/>
            <a:ext cx="914400" cy="168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2860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calls ≈ 20 phút · JaCoCo ≈ 1h · PIT ≈ 3h · stats ≈ 1h → 3–4 ngày thực nghiệm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270662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27797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27614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2944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Free-model comparison chưa có trong 54 papers — practical value cao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364992"/>
            <a:ext cx="8412480" cy="1481328"/>
          </a:xfrm>
          <a:prstGeom prst="roundRect">
            <a:avLst>
              <a:gd name="adj" fmla="val 6173"/>
            </a:avLst>
          </a:prstGeom>
          <a:solidFill>
            <a:srgbClr val="F0FFF4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419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2920" y="37490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Bảng so sánh chất lượng sinh unit test của 4 free LLMs trên Defects4J — chưa có trong 54 papers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40965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vi-VN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Practical recommendation: model nào nên dùng khi không có budget API — với số liệu cụ thể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444398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vi-VN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Threshold validation: 60% line / 45% branch / 40% mutation từ TABLE </a:t>
            </a:r>
            <a:r>
              <a:rPr lang="vi-VN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IV(Lops_2025_AgoneTest)</a:t>
            </a: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có còn đúng với free models không?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ound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7315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Evidence Table Summary (54 papers)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612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reviewed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5669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06040" y="612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606040" y="960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PDFs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5669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612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46320" y="960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paywalled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566928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BF5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086600" y="612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086600" y="9601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bác bỏ GAP-T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98448"/>
          <a:ext cx="8595360" cy="35204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Tool/LLM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2024 (ASE) — HITS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GPT-3.5/StarCoder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Defects4J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Line/Branch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82.3% stmt, 90.6% branch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Xu et al. 2026 — MocklessTester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LLM+context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Defects4J+Deps4J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Line/Branch/Mut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68.83%→88.82% 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Cabral et al. 2025 (SBQS)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DeepSeek/ChatGPT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classes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 Score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&gt; ChatGPT stability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Kumar et al. 2025 (IEEE) — Chain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GPT4o+Gemini+Claude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Java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Line/Branch/Mut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~81% line (chaining)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Kang et al. 2023 (ICSE) — LIBRO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few-shot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Defects4J 751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 Repro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33.5% of 751 bugs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Ouedraogo et al. 2024 (SPLC)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GPT-3.5/GPT-4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tests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Smell Density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~34% smell density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Hossain et al. 2025 (ICSE) — TOGLL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code LLMs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Java+Defects4J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Correctness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 better than TOGA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Konstantinou et al. 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LLM GPT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projects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Line/Branch/Mut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+17.72% line vs augmented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 et al. 2024 (TSE) — Survey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Gaps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rarely compared across models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Lops et al. 2025 (ASE) — AgoneTest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LLMs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libs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Line/Branch/Mut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&gt;65% compilable subset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10/54 papers shown · Full table: evidence-table-54papers.docx · GAP-S threshold ceil(0.4×54)=22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Phân công Roles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4160520" cy="2029968"/>
          </a:xfrm>
          <a:prstGeom prst="roundRect">
            <a:avLst>
              <a:gd name="adj" fmla="val 4505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32688"/>
            <a:ext cx="4160520" cy="210312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722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Thị Bảo Ngọc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941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SE190619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18688" y="740664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18688" y="740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+ RW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179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+ Report Writer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" y="1399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Điều phối tiến độ nhóm, xử lý blockers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+ submit proposal lên GV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1874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§1 §5 §7 §8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Ref: Wang et al. 2024 (TSE) — Survey, Landscape, and Vision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459736"/>
            <a:ext cx="3931920" cy="182880"/>
          </a:xfrm>
          <a:prstGeom prst="roundRect">
            <a:avLst>
              <a:gd name="adj" fmla="val 20000"/>
            </a:avLst>
          </a:prstGeom>
          <a:solidFill>
            <a:srgbClr val="FE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" y="246888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chạy experiment; không viết toàn bộ một mình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685800"/>
            <a:ext cx="4160520" cy="2029968"/>
          </a:xfrm>
          <a:prstGeom prst="roundRect">
            <a:avLst>
              <a:gd name="adj" fmla="val 4505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68580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932688"/>
            <a:ext cx="4160520" cy="21031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18888" y="722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Trần Phúc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18888" y="941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SE196673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62088" y="740664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62088" y="740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+ RW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11795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Ground Truth + Report Writer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18888" y="13990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Clone Defects4J v2.0; checkout Lang/Math/Chart; extract 30 focal methods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1636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§3 Related Work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18745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Ref: Wang et al. — HITS (2024, ASE); Xu et al. — MocklessTester (2026)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18888" y="211226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Ref: Kang et al. — Large Language Models are Few-shot Testers (ICSE 2023)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18888" y="2459736"/>
            <a:ext cx="3931920" cy="182880"/>
          </a:xfrm>
          <a:prstGeom prst="roundRect">
            <a:avLst>
              <a:gd name="adj" fmla="val 20000"/>
            </a:avLst>
          </a:prstGeom>
          <a:solidFill>
            <a:srgbClr val="FE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37176" y="246888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chạy LLM; không tính metric thống kê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2834640"/>
            <a:ext cx="4160520" cy="2029968"/>
          </a:xfrm>
          <a:prstGeom prst="roundRect">
            <a:avLst>
              <a:gd name="adj" fmla="val 4505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283464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65760" y="3081528"/>
            <a:ext cx="4160520" cy="21031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" y="2871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Minh Khôi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" y="3090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SE196632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18688" y="2889504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218688" y="28895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" y="3328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Runner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" y="3547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 Ollama + Llama-3.1-8B; lấy API keys Gemini / DeepSeek / GPT-4o-mini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unified API caller (4 LLMs, retry, rate limit)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4023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Batch-process 240 calls (30 methods × 4 LLMs × 2 conditions)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" y="4261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Ref: Cabral et al. — Evaluating LLM-Generated Unit Tests with Mutation Testing (SBQS 2025)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" y="4608576"/>
            <a:ext cx="3931920" cy="182880"/>
          </a:xfrm>
          <a:prstGeom prst="roundRect">
            <a:avLst>
              <a:gd name="adj" fmla="val 20000"/>
            </a:avLst>
          </a:prstGeom>
          <a:solidFill>
            <a:srgbClr val="FE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" y="461772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phân tích kết quả; không chọn statistical test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09160" y="2834640"/>
            <a:ext cx="4160520" cy="2029968"/>
          </a:xfrm>
          <a:prstGeom prst="roundRect">
            <a:avLst>
              <a:gd name="adj" fmla="val 4505"/>
            </a:avLst>
          </a:prstGeom>
          <a:solidFill>
            <a:srgbClr val="EBF5FB"/>
          </a:solidFill>
          <a:ln/>
          <a:effectLst>
            <a:outerShdw blurRad="63500" dist="2540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709160" y="2834640"/>
            <a:ext cx="4160520" cy="457200"/>
          </a:xfrm>
          <a:prstGeom prst="roundRect">
            <a:avLst>
              <a:gd name="adj" fmla="val 20000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709160" y="3081528"/>
            <a:ext cx="4160520" cy="210312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18888" y="28712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Phùng Thanh Nhân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18888" y="30906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SE183107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62088" y="2889504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562088" y="28895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+ RW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818888" y="33284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Stats + Report Writer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18888" y="35478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JaCoCo 0.8.11 + tsDetect v1.0 + PIT 1.15.0 pipeline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818888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Chạy Kruskal-Wallis + Dunn/Bonferroni + Cliff's delta (scipy)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18888" y="40233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Viết §4 §6; vẽ boxplots; diễn giải kết quả; làm slides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18888" y="42611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Ref: Ouedraogo et al. — On the Diffusion of Test Smells in LLM-Generated Unit Tests (SPLC 2024)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18888" y="4608576"/>
            <a:ext cx="3931920" cy="182880"/>
          </a:xfrm>
          <a:prstGeom prst="roundRect">
            <a:avLst>
              <a:gd name="adj" fmla="val 20000"/>
            </a:avLst>
          </a:prstGeom>
          <a:solidFill>
            <a:srgbClr val="FEF0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37176" y="4617720"/>
            <a:ext cx="3895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Không thu thập dữ liệu; không chạy LLM API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2222</Words>
  <Application>Microsoft Office PowerPoint</Application>
  <PresentationFormat>On-screen Show (16:9)</PresentationFormat>
  <Paragraphs>296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Bảo Ngọc</cp:lastModifiedBy>
  <cp:revision>9</cp:revision>
  <dcterms:created xsi:type="dcterms:W3CDTF">2026-06-22T12:58:57Z</dcterms:created>
  <dcterms:modified xsi:type="dcterms:W3CDTF">2026-06-26T05:59:27Z</dcterms:modified>
</cp:coreProperties>
</file>